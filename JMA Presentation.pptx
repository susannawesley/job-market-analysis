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uciole Bold" charset="1" panose="020B0800020200000003"/>
      <p:regular r:id="rId15"/>
    </p:embeddedFont>
    <p:embeddedFont>
      <p:font typeface="Work Sans" charset="1" panose="00000000000000000000"/>
      <p:regular r:id="rId16"/>
    </p:embeddedFont>
    <p:embeddedFont>
      <p:font typeface="Touvlo Bold" charset="1" panose="020B0804030403020204"/>
      <p:regular r:id="rId17"/>
    </p:embeddedFont>
    <p:embeddedFont>
      <p:font typeface="Work Sans Bold" charset="1" panose="00000000000000000000"/>
      <p:regular r:id="rId18"/>
    </p:embeddedFont>
    <p:embeddedFont>
      <p:font typeface="Touvlo" charset="1" panose="020B0604030403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573" y="3522604"/>
            <a:ext cx="7841377" cy="7125851"/>
          </a:xfrm>
          <a:custGeom>
            <a:avLst/>
            <a:gdLst/>
            <a:ahLst/>
            <a:cxnLst/>
            <a:rect r="r" b="b" t="t" l="l"/>
            <a:pathLst>
              <a:path h="7125851" w="7841377">
                <a:moveTo>
                  <a:pt x="0" y="0"/>
                </a:moveTo>
                <a:lnTo>
                  <a:pt x="7841377" y="0"/>
                </a:lnTo>
                <a:lnTo>
                  <a:pt x="7841377" y="7125851"/>
                </a:lnTo>
                <a:lnTo>
                  <a:pt x="0" y="712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370015" y="0"/>
            <a:ext cx="8917985" cy="3522604"/>
          </a:xfrm>
          <a:custGeom>
            <a:avLst/>
            <a:gdLst/>
            <a:ahLst/>
            <a:cxnLst/>
            <a:rect r="r" b="b" t="t" l="l"/>
            <a:pathLst>
              <a:path h="3522604" w="8917985">
                <a:moveTo>
                  <a:pt x="8917985" y="0"/>
                </a:moveTo>
                <a:lnTo>
                  <a:pt x="0" y="0"/>
                </a:lnTo>
                <a:lnTo>
                  <a:pt x="0" y="3522604"/>
                </a:lnTo>
                <a:lnTo>
                  <a:pt x="8917985" y="3522604"/>
                </a:lnTo>
                <a:lnTo>
                  <a:pt x="891798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00364" y="6533655"/>
            <a:ext cx="4987636" cy="4114800"/>
          </a:xfrm>
          <a:custGeom>
            <a:avLst/>
            <a:gdLst/>
            <a:ahLst/>
            <a:cxnLst/>
            <a:rect r="r" b="b" t="t" l="l"/>
            <a:pathLst>
              <a:path h="4114800" w="4987636">
                <a:moveTo>
                  <a:pt x="0" y="0"/>
                </a:moveTo>
                <a:lnTo>
                  <a:pt x="4987636" y="0"/>
                </a:lnTo>
                <a:lnTo>
                  <a:pt x="49876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08306" y="3009186"/>
            <a:ext cx="10700947" cy="278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036"/>
              </a:lnSpc>
              <a:spcBef>
                <a:spcPct val="0"/>
              </a:spcBef>
            </a:pPr>
            <a:r>
              <a:rPr lang="en-US" b="true" sz="9839">
                <a:solidFill>
                  <a:srgbClr val="1C4398"/>
                </a:solidFill>
                <a:latin typeface="Luciole Bold"/>
                <a:ea typeface="Luciole Bold"/>
                <a:cs typeface="Luciole Bold"/>
                <a:sym typeface="Luciole Bold"/>
              </a:rPr>
              <a:t>JOB</a:t>
            </a:r>
            <a:r>
              <a:rPr lang="en-US" b="true" sz="9839">
                <a:solidFill>
                  <a:srgbClr val="1C4398"/>
                </a:solidFill>
                <a:latin typeface="Luciole Bold"/>
                <a:ea typeface="Luciole Bold"/>
                <a:cs typeface="Luciole Bold"/>
                <a:sym typeface="Luciole Bold"/>
              </a:rPr>
              <a:t> MARKET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08306" y="6053952"/>
            <a:ext cx="5638995" cy="47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348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By:</a:t>
            </a:r>
            <a:r>
              <a:rPr lang="en-US" sz="348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Susanna Bhukya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972800" y="0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7315200" y="3904488"/>
                </a:moveTo>
                <a:lnTo>
                  <a:pt x="0" y="3904488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044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18803" y="-193276"/>
            <a:ext cx="7674798" cy="6370082"/>
          </a:xfrm>
          <a:custGeom>
            <a:avLst/>
            <a:gdLst/>
            <a:ahLst/>
            <a:cxnLst/>
            <a:rect r="r" b="b" t="t" l="l"/>
            <a:pathLst>
              <a:path h="6370082" w="7674798">
                <a:moveTo>
                  <a:pt x="0" y="6370083"/>
                </a:moveTo>
                <a:lnTo>
                  <a:pt x="7674798" y="6370083"/>
                </a:lnTo>
                <a:lnTo>
                  <a:pt x="7674798" y="0"/>
                </a:lnTo>
                <a:lnTo>
                  <a:pt x="0" y="0"/>
                </a:lnTo>
                <a:lnTo>
                  <a:pt x="0" y="637008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4606" y="7520812"/>
            <a:ext cx="7903394" cy="2766188"/>
          </a:xfrm>
          <a:custGeom>
            <a:avLst/>
            <a:gdLst/>
            <a:ahLst/>
            <a:cxnLst/>
            <a:rect r="r" b="b" t="t" l="l"/>
            <a:pathLst>
              <a:path h="2766188" w="7903394">
                <a:moveTo>
                  <a:pt x="0" y="0"/>
                </a:moveTo>
                <a:lnTo>
                  <a:pt x="7903394" y="0"/>
                </a:lnTo>
                <a:lnTo>
                  <a:pt x="7903394" y="2766188"/>
                </a:lnTo>
                <a:lnTo>
                  <a:pt x="0" y="27661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585" y="7860641"/>
            <a:ext cx="6917063" cy="2086531"/>
          </a:xfrm>
          <a:custGeom>
            <a:avLst/>
            <a:gdLst/>
            <a:ahLst/>
            <a:cxnLst/>
            <a:rect r="r" b="b" t="t" l="l"/>
            <a:pathLst>
              <a:path h="2086531" w="6917063">
                <a:moveTo>
                  <a:pt x="0" y="0"/>
                </a:moveTo>
                <a:lnTo>
                  <a:pt x="6917063" y="0"/>
                </a:lnTo>
                <a:lnTo>
                  <a:pt x="6917063" y="2086530"/>
                </a:lnTo>
                <a:lnTo>
                  <a:pt x="0" y="2086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7113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1117" y="2109027"/>
            <a:ext cx="10289283" cy="17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ect an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alyz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mar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dat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aset c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ng 742 jo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ec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42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tes.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 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ly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focus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oles,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es, lo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mpanies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in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du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ie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s,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ills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e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ucati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 a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senior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it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le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vel</a:t>
            </a:r>
            <a:r>
              <a:rPr lang="en-US" sz="242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19814" y="1201118"/>
            <a:ext cx="6472903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Project</a:t>
            </a: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7326" y="4190238"/>
            <a:ext cx="3840934" cy="44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42"/>
              </a:lnSpc>
              <a:spcBef>
                <a:spcPct val="0"/>
              </a:spcBef>
            </a:pPr>
            <a:r>
              <a:rPr lang="en-US" b="true" sz="3410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Objectives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47081" y="4832522"/>
            <a:ext cx="12218368" cy="319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nalyze job distribut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ion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cross s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tates and indust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ies</a:t>
            </a:r>
          </a:p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Identify co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mpanie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and job titles with the highes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number of o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penings</a:t>
            </a:r>
          </a:p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Ana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yz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 salar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atterns ac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ss st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ates, education and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seniorit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</a:p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Identify commonly 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equ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ired technical skills</a:t>
            </a:r>
          </a:p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Generate additional insi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ghts f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om 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the dataset</a:t>
            </a:r>
          </a:p>
          <a:p>
            <a:pPr algn="just" marL="559209" indent="-279605" lvl="1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Build an interactive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Power BI da</a:t>
            </a:r>
            <a:r>
              <a:rPr lang="en-US" sz="259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shboard</a:t>
            </a:r>
          </a:p>
          <a:p>
            <a:pPr algn="just" marL="0" indent="0" lvl="1">
              <a:lnSpc>
                <a:spcPts val="362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7551" y="8521310"/>
            <a:ext cx="1038636" cy="7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Raw</a:t>
            </a:r>
          </a:p>
          <a:p>
            <a:pPr algn="ctr" marL="0" indent="0" lvl="1">
              <a:lnSpc>
                <a:spcPts val="2862"/>
              </a:lnSpc>
              <a:spcBef>
                <a:spcPct val="0"/>
              </a:spcBef>
            </a:pPr>
            <a:r>
              <a:rPr lang="en-US" sz="20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00788" y="8521310"/>
            <a:ext cx="1038636" cy="7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SQL</a:t>
            </a:r>
          </a:p>
          <a:p>
            <a:pPr algn="ctr" marL="0" indent="0" lvl="1">
              <a:lnSpc>
                <a:spcPts val="2862"/>
              </a:lnSpc>
              <a:spcBef>
                <a:spcPct val="0"/>
              </a:spcBef>
            </a:pPr>
            <a:r>
              <a:rPr lang="en-US" sz="20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4471" y="8598599"/>
            <a:ext cx="1301524" cy="5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3"/>
              </a:lnSpc>
            </a:pPr>
            <a:r>
              <a:rPr lang="en-US" sz="163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Power BI</a:t>
            </a:r>
          </a:p>
          <a:p>
            <a:pPr algn="ctr" marL="0" indent="0" lvl="1">
              <a:lnSpc>
                <a:spcPts val="2283"/>
              </a:lnSpc>
              <a:spcBef>
                <a:spcPct val="0"/>
              </a:spcBef>
            </a:pPr>
            <a:r>
              <a:rPr lang="en-US" sz="163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803371" y="3093831"/>
            <a:ext cx="8497470" cy="7552127"/>
          </a:xfrm>
          <a:custGeom>
            <a:avLst/>
            <a:gdLst/>
            <a:ahLst/>
            <a:cxnLst/>
            <a:rect r="r" b="b" t="t" l="l"/>
            <a:pathLst>
              <a:path h="7552127" w="8497470">
                <a:moveTo>
                  <a:pt x="8497470" y="0"/>
                </a:moveTo>
                <a:lnTo>
                  <a:pt x="0" y="0"/>
                </a:lnTo>
                <a:lnTo>
                  <a:pt x="0" y="7552126"/>
                </a:lnTo>
                <a:lnTo>
                  <a:pt x="8497470" y="7552126"/>
                </a:lnTo>
                <a:lnTo>
                  <a:pt x="849747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6695" y="715049"/>
            <a:ext cx="9179186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Dataset</a:t>
            </a: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 &amp; Data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7600" y="1876044"/>
            <a:ext cx="10558003" cy="308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4477" indent="-377238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Records: 742</a:t>
            </a:r>
          </a:p>
          <a:p>
            <a:pPr algn="just" marL="754477" indent="-377238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Columns: 42</a:t>
            </a:r>
          </a:p>
          <a:p>
            <a:pPr algn="just" marL="754477" indent="-377238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Source: Job market dataset</a:t>
            </a:r>
          </a:p>
          <a:p>
            <a:pPr algn="just" marL="754477" indent="-377238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Tools used: Power BI and MySQL Workbench</a:t>
            </a:r>
          </a:p>
          <a:p>
            <a:pPr algn="just" marL="0" indent="0" lvl="1">
              <a:lnSpc>
                <a:spcPts val="489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0" y="3904488"/>
                </a:moveTo>
                <a:lnTo>
                  <a:pt x="7315200" y="3904488"/>
                </a:lnTo>
                <a:lnTo>
                  <a:pt x="7315200" y="0"/>
                </a:lnTo>
                <a:lnTo>
                  <a:pt x="0" y="0"/>
                </a:lnTo>
                <a:lnTo>
                  <a:pt x="0" y="390448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5290" y="5361566"/>
            <a:ext cx="4679612" cy="1006117"/>
          </a:xfrm>
          <a:custGeom>
            <a:avLst/>
            <a:gdLst/>
            <a:ahLst/>
            <a:cxnLst/>
            <a:rect r="r" b="b" t="t" l="l"/>
            <a:pathLst>
              <a:path h="1006117" w="4679612">
                <a:moveTo>
                  <a:pt x="0" y="0"/>
                </a:moveTo>
                <a:lnTo>
                  <a:pt x="4679612" y="0"/>
                </a:lnTo>
                <a:lnTo>
                  <a:pt x="4679612" y="1006117"/>
                </a:lnTo>
                <a:lnTo>
                  <a:pt x="0" y="100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25461">
            <a:off x="5742481" y="5646558"/>
            <a:ext cx="4679612" cy="1006117"/>
          </a:xfrm>
          <a:custGeom>
            <a:avLst/>
            <a:gdLst/>
            <a:ahLst/>
            <a:cxnLst/>
            <a:rect r="r" b="b" t="t" l="l"/>
            <a:pathLst>
              <a:path h="1006117" w="4679612">
                <a:moveTo>
                  <a:pt x="0" y="0"/>
                </a:moveTo>
                <a:lnTo>
                  <a:pt x="4679612" y="0"/>
                </a:lnTo>
                <a:lnTo>
                  <a:pt x="4679612" y="1006117"/>
                </a:lnTo>
                <a:lnTo>
                  <a:pt x="0" y="100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14452">
            <a:off x="6804194" y="7747810"/>
            <a:ext cx="4679612" cy="1006117"/>
          </a:xfrm>
          <a:custGeom>
            <a:avLst/>
            <a:gdLst/>
            <a:ahLst/>
            <a:cxnLst/>
            <a:rect r="r" b="b" t="t" l="l"/>
            <a:pathLst>
              <a:path h="1006117" w="4679612">
                <a:moveTo>
                  <a:pt x="0" y="0"/>
                </a:moveTo>
                <a:lnTo>
                  <a:pt x="4679612" y="0"/>
                </a:lnTo>
                <a:lnTo>
                  <a:pt x="4679612" y="1006116"/>
                </a:lnTo>
                <a:lnTo>
                  <a:pt x="0" y="10061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522115" y="8072177"/>
            <a:ext cx="4679612" cy="1006117"/>
          </a:xfrm>
          <a:custGeom>
            <a:avLst/>
            <a:gdLst/>
            <a:ahLst/>
            <a:cxnLst/>
            <a:rect r="r" b="b" t="t" l="l"/>
            <a:pathLst>
              <a:path h="1006117" w="4679612">
                <a:moveTo>
                  <a:pt x="0" y="0"/>
                </a:moveTo>
                <a:lnTo>
                  <a:pt x="4679612" y="0"/>
                </a:lnTo>
                <a:lnTo>
                  <a:pt x="4679612" y="1006117"/>
                </a:lnTo>
                <a:lnTo>
                  <a:pt x="0" y="100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2115" y="5522975"/>
            <a:ext cx="2685142" cy="6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Check Data</a:t>
            </a:r>
          </a:p>
        </p:txBody>
      </p:sp>
      <p:sp>
        <p:nvSpPr>
          <p:cNvPr name="TextBox 11" id="11"/>
          <p:cNvSpPr txBox="true"/>
          <p:nvPr/>
        </p:nvSpPr>
        <p:spPr>
          <a:xfrm rot="452989">
            <a:off x="6440626" y="5788754"/>
            <a:ext cx="2685142" cy="6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Clean Data</a:t>
            </a:r>
          </a:p>
        </p:txBody>
      </p:sp>
      <p:sp>
        <p:nvSpPr>
          <p:cNvPr name="TextBox 12" id="12"/>
          <p:cNvSpPr txBox="true"/>
          <p:nvPr/>
        </p:nvSpPr>
        <p:spPr>
          <a:xfrm rot="-448391">
            <a:off x="8470192" y="7796098"/>
            <a:ext cx="2685142" cy="6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Validate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6689" y="8233586"/>
            <a:ext cx="2980006" cy="6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Final </a:t>
            </a:r>
            <a:r>
              <a:rPr lang="en-US" sz="3494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Dataset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060379" y="-1072655"/>
            <a:ext cx="7200671" cy="6216155"/>
          </a:xfrm>
          <a:custGeom>
            <a:avLst/>
            <a:gdLst/>
            <a:ahLst/>
            <a:cxnLst/>
            <a:rect r="r" b="b" t="t" l="l"/>
            <a:pathLst>
              <a:path h="6216155" w="7200671">
                <a:moveTo>
                  <a:pt x="7200671" y="6216155"/>
                </a:moveTo>
                <a:lnTo>
                  <a:pt x="0" y="6216155"/>
                </a:lnTo>
                <a:lnTo>
                  <a:pt x="0" y="0"/>
                </a:lnTo>
                <a:lnTo>
                  <a:pt x="7200671" y="0"/>
                </a:lnTo>
                <a:lnTo>
                  <a:pt x="7200671" y="6216155"/>
                </a:lnTo>
                <a:close/>
              </a:path>
            </a:pathLst>
          </a:custGeom>
          <a:blipFill>
            <a:blip r:embed="rId2"/>
            <a:stretch>
              <a:fillRect l="0" t="-1475" r="0" b="-147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951697" y="7520812"/>
            <a:ext cx="7903394" cy="2766188"/>
          </a:xfrm>
          <a:custGeom>
            <a:avLst/>
            <a:gdLst/>
            <a:ahLst/>
            <a:cxnLst/>
            <a:rect r="r" b="b" t="t" l="l"/>
            <a:pathLst>
              <a:path h="2766188" w="7903394">
                <a:moveTo>
                  <a:pt x="7903394" y="0"/>
                </a:moveTo>
                <a:lnTo>
                  <a:pt x="0" y="0"/>
                </a:lnTo>
                <a:lnTo>
                  <a:pt x="0" y="2766188"/>
                </a:lnTo>
                <a:lnTo>
                  <a:pt x="7903394" y="2766188"/>
                </a:lnTo>
                <a:lnTo>
                  <a:pt x="790339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0279" y="2407773"/>
            <a:ext cx="3739858" cy="5634454"/>
            <a:chOff x="0" y="0"/>
            <a:chExt cx="725181" cy="10925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5181" cy="1092554"/>
            </a:xfrm>
            <a:custGeom>
              <a:avLst/>
              <a:gdLst/>
              <a:ahLst/>
              <a:cxnLst/>
              <a:rect r="r" b="b" t="t" l="l"/>
              <a:pathLst>
                <a:path h="1092554" w="725181">
                  <a:moveTo>
                    <a:pt x="40432" y="0"/>
                  </a:moveTo>
                  <a:lnTo>
                    <a:pt x="684749" y="0"/>
                  </a:lnTo>
                  <a:cubicBezTo>
                    <a:pt x="707079" y="0"/>
                    <a:pt x="725181" y="18102"/>
                    <a:pt x="725181" y="40432"/>
                  </a:cubicBezTo>
                  <a:lnTo>
                    <a:pt x="725181" y="1052122"/>
                  </a:lnTo>
                  <a:cubicBezTo>
                    <a:pt x="725181" y="1074452"/>
                    <a:pt x="707079" y="1092554"/>
                    <a:pt x="684749" y="1092554"/>
                  </a:cubicBezTo>
                  <a:lnTo>
                    <a:pt x="40432" y="1092554"/>
                  </a:lnTo>
                  <a:cubicBezTo>
                    <a:pt x="18102" y="1092554"/>
                    <a:pt x="0" y="1074452"/>
                    <a:pt x="0" y="1052122"/>
                  </a:cubicBezTo>
                  <a:lnTo>
                    <a:pt x="0" y="40432"/>
                  </a:lnTo>
                  <a:cubicBezTo>
                    <a:pt x="0" y="18102"/>
                    <a:pt x="18102" y="0"/>
                    <a:pt x="40432" y="0"/>
                  </a:cubicBezTo>
                  <a:close/>
                </a:path>
              </a:pathLst>
            </a:custGeom>
            <a:solidFill>
              <a:srgbClr val="9FC4F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25181" cy="113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62807" y="2353440"/>
            <a:ext cx="3739858" cy="5634454"/>
            <a:chOff x="0" y="0"/>
            <a:chExt cx="725181" cy="1092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5181" cy="1092554"/>
            </a:xfrm>
            <a:custGeom>
              <a:avLst/>
              <a:gdLst/>
              <a:ahLst/>
              <a:cxnLst/>
              <a:rect r="r" b="b" t="t" l="l"/>
              <a:pathLst>
                <a:path h="1092554" w="725181">
                  <a:moveTo>
                    <a:pt x="40432" y="0"/>
                  </a:moveTo>
                  <a:lnTo>
                    <a:pt x="684749" y="0"/>
                  </a:lnTo>
                  <a:cubicBezTo>
                    <a:pt x="707079" y="0"/>
                    <a:pt x="725181" y="18102"/>
                    <a:pt x="725181" y="40432"/>
                  </a:cubicBezTo>
                  <a:lnTo>
                    <a:pt x="725181" y="1052122"/>
                  </a:lnTo>
                  <a:cubicBezTo>
                    <a:pt x="725181" y="1074452"/>
                    <a:pt x="707079" y="1092554"/>
                    <a:pt x="684749" y="1092554"/>
                  </a:cubicBezTo>
                  <a:lnTo>
                    <a:pt x="40432" y="1092554"/>
                  </a:lnTo>
                  <a:cubicBezTo>
                    <a:pt x="18102" y="1092554"/>
                    <a:pt x="0" y="1074452"/>
                    <a:pt x="0" y="1052122"/>
                  </a:cubicBezTo>
                  <a:lnTo>
                    <a:pt x="0" y="40432"/>
                  </a:lnTo>
                  <a:cubicBezTo>
                    <a:pt x="0" y="18102"/>
                    <a:pt x="18102" y="0"/>
                    <a:pt x="40432" y="0"/>
                  </a:cubicBezTo>
                  <a:close/>
                </a:path>
              </a:pathLst>
            </a:custGeom>
            <a:solidFill>
              <a:srgbClr val="1C439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25181" cy="113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85335" y="2299107"/>
            <a:ext cx="3739858" cy="5634454"/>
            <a:chOff x="0" y="0"/>
            <a:chExt cx="725181" cy="1092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181" cy="1092554"/>
            </a:xfrm>
            <a:custGeom>
              <a:avLst/>
              <a:gdLst/>
              <a:ahLst/>
              <a:cxnLst/>
              <a:rect r="r" b="b" t="t" l="l"/>
              <a:pathLst>
                <a:path h="1092554" w="725181">
                  <a:moveTo>
                    <a:pt x="40432" y="0"/>
                  </a:moveTo>
                  <a:lnTo>
                    <a:pt x="684749" y="0"/>
                  </a:lnTo>
                  <a:cubicBezTo>
                    <a:pt x="707079" y="0"/>
                    <a:pt x="725181" y="18102"/>
                    <a:pt x="725181" y="40432"/>
                  </a:cubicBezTo>
                  <a:lnTo>
                    <a:pt x="725181" y="1052122"/>
                  </a:lnTo>
                  <a:cubicBezTo>
                    <a:pt x="725181" y="1074452"/>
                    <a:pt x="707079" y="1092554"/>
                    <a:pt x="684749" y="1092554"/>
                  </a:cubicBezTo>
                  <a:lnTo>
                    <a:pt x="40432" y="1092554"/>
                  </a:lnTo>
                  <a:cubicBezTo>
                    <a:pt x="18102" y="1092554"/>
                    <a:pt x="0" y="1074452"/>
                    <a:pt x="0" y="1052122"/>
                  </a:cubicBezTo>
                  <a:lnTo>
                    <a:pt x="0" y="40432"/>
                  </a:lnTo>
                  <a:cubicBezTo>
                    <a:pt x="0" y="18102"/>
                    <a:pt x="18102" y="0"/>
                    <a:pt x="40432" y="0"/>
                  </a:cubicBezTo>
                  <a:close/>
                </a:path>
              </a:pathLst>
            </a:custGeom>
            <a:solidFill>
              <a:srgbClr val="9FC4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25181" cy="113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07863" y="2244774"/>
            <a:ext cx="3739858" cy="5634454"/>
            <a:chOff x="0" y="0"/>
            <a:chExt cx="725181" cy="10925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5181" cy="1092554"/>
            </a:xfrm>
            <a:custGeom>
              <a:avLst/>
              <a:gdLst/>
              <a:ahLst/>
              <a:cxnLst/>
              <a:rect r="r" b="b" t="t" l="l"/>
              <a:pathLst>
                <a:path h="1092554" w="725181">
                  <a:moveTo>
                    <a:pt x="40432" y="0"/>
                  </a:moveTo>
                  <a:lnTo>
                    <a:pt x="684749" y="0"/>
                  </a:lnTo>
                  <a:cubicBezTo>
                    <a:pt x="707079" y="0"/>
                    <a:pt x="725181" y="18102"/>
                    <a:pt x="725181" y="40432"/>
                  </a:cubicBezTo>
                  <a:lnTo>
                    <a:pt x="725181" y="1052122"/>
                  </a:lnTo>
                  <a:cubicBezTo>
                    <a:pt x="725181" y="1074452"/>
                    <a:pt x="707079" y="1092554"/>
                    <a:pt x="684749" y="1092554"/>
                  </a:cubicBezTo>
                  <a:lnTo>
                    <a:pt x="40432" y="1092554"/>
                  </a:lnTo>
                  <a:cubicBezTo>
                    <a:pt x="18102" y="1092554"/>
                    <a:pt x="0" y="1074452"/>
                    <a:pt x="0" y="1052122"/>
                  </a:cubicBezTo>
                  <a:lnTo>
                    <a:pt x="0" y="40432"/>
                  </a:lnTo>
                  <a:cubicBezTo>
                    <a:pt x="0" y="18102"/>
                    <a:pt x="18102" y="0"/>
                    <a:pt x="40432" y="0"/>
                  </a:cubicBezTo>
                  <a:close/>
                </a:path>
              </a:pathLst>
            </a:custGeom>
            <a:solidFill>
              <a:srgbClr val="1C439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25181" cy="113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22700" y="2108971"/>
            <a:ext cx="1292432" cy="1179091"/>
          </a:xfrm>
          <a:custGeom>
            <a:avLst/>
            <a:gdLst/>
            <a:ahLst/>
            <a:cxnLst/>
            <a:rect r="r" b="b" t="t" l="l"/>
            <a:pathLst>
              <a:path h="1179091" w="1292432">
                <a:moveTo>
                  <a:pt x="0" y="0"/>
                </a:moveTo>
                <a:lnTo>
                  <a:pt x="1292432" y="0"/>
                </a:lnTo>
                <a:lnTo>
                  <a:pt x="1292432" y="1179091"/>
                </a:lnTo>
                <a:lnTo>
                  <a:pt x="0" y="11790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353" t="0" r="-33274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63904" y="2066575"/>
            <a:ext cx="1180096" cy="1180096"/>
          </a:xfrm>
          <a:custGeom>
            <a:avLst/>
            <a:gdLst/>
            <a:ahLst/>
            <a:cxnLst/>
            <a:rect r="r" b="b" t="t" l="l"/>
            <a:pathLst>
              <a:path h="1180096" w="1180096">
                <a:moveTo>
                  <a:pt x="0" y="0"/>
                </a:moveTo>
                <a:lnTo>
                  <a:pt x="1180096" y="0"/>
                </a:lnTo>
                <a:lnTo>
                  <a:pt x="1180096" y="1180096"/>
                </a:lnTo>
                <a:lnTo>
                  <a:pt x="0" y="1180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76458" y="2024180"/>
            <a:ext cx="1267713" cy="1180096"/>
          </a:xfrm>
          <a:custGeom>
            <a:avLst/>
            <a:gdLst/>
            <a:ahLst/>
            <a:cxnLst/>
            <a:rect r="r" b="b" t="t" l="l"/>
            <a:pathLst>
              <a:path h="1180096" w="1267713">
                <a:moveTo>
                  <a:pt x="0" y="0"/>
                </a:moveTo>
                <a:lnTo>
                  <a:pt x="1267713" y="0"/>
                </a:lnTo>
                <a:lnTo>
                  <a:pt x="1267713" y="1180096"/>
                </a:lnTo>
                <a:lnTo>
                  <a:pt x="0" y="1180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00979" y="1704593"/>
            <a:ext cx="1394288" cy="1297693"/>
          </a:xfrm>
          <a:custGeom>
            <a:avLst/>
            <a:gdLst/>
            <a:ahLst/>
            <a:cxnLst/>
            <a:rect r="r" b="b" t="t" l="l"/>
            <a:pathLst>
              <a:path h="1297693" w="1394288">
                <a:moveTo>
                  <a:pt x="0" y="0"/>
                </a:moveTo>
                <a:lnTo>
                  <a:pt x="1394287" y="0"/>
                </a:lnTo>
                <a:lnTo>
                  <a:pt x="1394287" y="1297693"/>
                </a:lnTo>
                <a:lnTo>
                  <a:pt x="0" y="12976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25" t="-10383" r="-9161" b="-1380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715049"/>
            <a:ext cx="9300584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Tools</a:t>
            </a: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 &amp; Technologies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0279" y="3423005"/>
            <a:ext cx="3512392" cy="353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at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 c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ea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ing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Da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hb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ar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In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ter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ct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iv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e 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fil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Visu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ali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z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ati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333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2807" y="3983498"/>
            <a:ext cx="3158556" cy="353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SQL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queries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Aggregation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Group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ing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ar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 a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nal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85335" y="3413480"/>
            <a:ext cx="3139925" cy="206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970" indent="-422985" lvl="1">
              <a:lnSpc>
                <a:spcPts val="5485"/>
              </a:lnSpc>
              <a:spcBef>
                <a:spcPct val="0"/>
              </a:spcBef>
              <a:buFont typeface="Arial"/>
              <a:buChar char="•"/>
            </a:pPr>
            <a:r>
              <a:rPr lang="en-US" sz="3918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391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ata han</a:t>
            </a:r>
            <a:r>
              <a:rPr lang="en-US" sz="391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dl</a:t>
            </a:r>
            <a:r>
              <a:rPr lang="en-US" sz="3918" strike="noStrike" u="none">
                <a:solidFill>
                  <a:srgbClr val="17264B"/>
                </a:solidFill>
                <a:latin typeface="Work Sans"/>
                <a:ea typeface="Work Sans"/>
                <a:cs typeface="Work Sans"/>
                <a:sym typeface="Work Sans"/>
              </a:rPr>
              <a:t>ing/export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07863" y="3423005"/>
            <a:ext cx="3512392" cy="353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ering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GROUP BY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HAV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NG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ORDER BY</a:t>
            </a:r>
          </a:p>
          <a:p>
            <a:pPr algn="l" marL="720720" indent="-360360" lvl="1">
              <a:lnSpc>
                <a:spcPts val="4673"/>
              </a:lnSpc>
              <a:spcBef>
                <a:spcPct val="0"/>
              </a:spcBef>
              <a:buFont typeface="Arial"/>
              <a:buChar char="•"/>
            </a:pP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Agg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regate fu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nc</a:t>
            </a:r>
            <a:r>
              <a:rPr lang="en-US" sz="3338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0624" y="2631841"/>
            <a:ext cx="1949615" cy="57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  <a:spcBef>
                <a:spcPct val="0"/>
              </a:spcBef>
            </a:pPr>
            <a:r>
              <a:rPr lang="en-US" b="true" sz="3338">
                <a:solidFill>
                  <a:srgbClr val="17264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Power BI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36887" y="2631841"/>
            <a:ext cx="2586373" cy="116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  <a:spcBef>
                <a:spcPct val="0"/>
              </a:spcBef>
            </a:pPr>
            <a:r>
              <a:rPr lang="en-US" b="true" sz="3338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MySQL Workbench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63151" y="2631841"/>
            <a:ext cx="1949615" cy="57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  <a:spcBef>
                <a:spcPct val="0"/>
              </a:spcBef>
            </a:pPr>
            <a:r>
              <a:rPr lang="en-US" b="true" sz="3338">
                <a:solidFill>
                  <a:srgbClr val="17264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Excel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89414" y="2631841"/>
            <a:ext cx="1949615" cy="57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  <a:spcBef>
                <a:spcPct val="0"/>
              </a:spcBef>
            </a:pPr>
            <a:r>
              <a:rPr lang="en-US" b="true" sz="3338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SQL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917985" cy="3522604"/>
          </a:xfrm>
          <a:custGeom>
            <a:avLst/>
            <a:gdLst/>
            <a:ahLst/>
            <a:cxnLst/>
            <a:rect r="r" b="b" t="t" l="l"/>
            <a:pathLst>
              <a:path h="3522604" w="8917985">
                <a:moveTo>
                  <a:pt x="0" y="0"/>
                </a:moveTo>
                <a:lnTo>
                  <a:pt x="8917985" y="0"/>
                </a:lnTo>
                <a:lnTo>
                  <a:pt x="8917985" y="3522604"/>
                </a:lnTo>
                <a:lnTo>
                  <a:pt x="0" y="352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75246" y="2988333"/>
            <a:ext cx="8497470" cy="7552127"/>
          </a:xfrm>
          <a:custGeom>
            <a:avLst/>
            <a:gdLst/>
            <a:ahLst/>
            <a:cxnLst/>
            <a:rect r="r" b="b" t="t" l="l"/>
            <a:pathLst>
              <a:path h="7552127" w="8497470">
                <a:moveTo>
                  <a:pt x="8497470" y="0"/>
                </a:moveTo>
                <a:lnTo>
                  <a:pt x="0" y="0"/>
                </a:lnTo>
                <a:lnTo>
                  <a:pt x="0" y="7552126"/>
                </a:lnTo>
                <a:lnTo>
                  <a:pt x="8497470" y="7552126"/>
                </a:lnTo>
                <a:lnTo>
                  <a:pt x="849747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39743" y="1761302"/>
            <a:ext cx="11608514" cy="6486512"/>
          </a:xfrm>
          <a:custGeom>
            <a:avLst/>
            <a:gdLst/>
            <a:ahLst/>
            <a:cxnLst/>
            <a:rect r="r" b="b" t="t" l="l"/>
            <a:pathLst>
              <a:path h="6486512" w="11608514">
                <a:moveTo>
                  <a:pt x="0" y="0"/>
                </a:moveTo>
                <a:lnTo>
                  <a:pt x="11608514" y="0"/>
                </a:lnTo>
                <a:lnTo>
                  <a:pt x="11608514" y="6486512"/>
                </a:lnTo>
                <a:lnTo>
                  <a:pt x="0" y="6486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93923" y="715049"/>
            <a:ext cx="7932230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Power</a:t>
            </a: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 BI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9743" y="8667539"/>
            <a:ext cx="10272429" cy="59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 d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ashb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provide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nterac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ov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rv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j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marke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 Us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er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c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fil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er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ysis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 j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ti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le,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ust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y,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xplore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di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ffere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aspects of th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taset</a:t>
            </a:r>
            <a:r>
              <a:rPr lang="en-US" sz="1676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-373046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0" y="3904488"/>
                </a:moveTo>
                <a:lnTo>
                  <a:pt x="7315200" y="3904488"/>
                </a:lnTo>
                <a:lnTo>
                  <a:pt x="7315200" y="0"/>
                </a:lnTo>
                <a:lnTo>
                  <a:pt x="0" y="0"/>
                </a:lnTo>
                <a:lnTo>
                  <a:pt x="0" y="39044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4606" y="7520812"/>
            <a:ext cx="7903394" cy="2766188"/>
          </a:xfrm>
          <a:custGeom>
            <a:avLst/>
            <a:gdLst/>
            <a:ahLst/>
            <a:cxnLst/>
            <a:rect r="r" b="b" t="t" l="l"/>
            <a:pathLst>
              <a:path h="2766188" w="7903394">
                <a:moveTo>
                  <a:pt x="0" y="0"/>
                </a:moveTo>
                <a:lnTo>
                  <a:pt x="7903394" y="0"/>
                </a:lnTo>
                <a:lnTo>
                  <a:pt x="7903394" y="2766188"/>
                </a:lnTo>
                <a:lnTo>
                  <a:pt x="0" y="276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3611" y="1787786"/>
            <a:ext cx="8470389" cy="5733026"/>
          </a:xfrm>
          <a:custGeom>
            <a:avLst/>
            <a:gdLst/>
            <a:ahLst/>
            <a:cxnLst/>
            <a:rect r="r" b="b" t="t" l="l"/>
            <a:pathLst>
              <a:path h="5733026" w="8470389">
                <a:moveTo>
                  <a:pt x="0" y="0"/>
                </a:moveTo>
                <a:lnTo>
                  <a:pt x="8470389" y="0"/>
                </a:lnTo>
                <a:lnTo>
                  <a:pt x="8470389" y="5733026"/>
                </a:lnTo>
                <a:lnTo>
                  <a:pt x="0" y="573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7199" r="-217913" b="-852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00838" y="1551059"/>
            <a:ext cx="4498546" cy="6206481"/>
          </a:xfrm>
          <a:custGeom>
            <a:avLst/>
            <a:gdLst/>
            <a:ahLst/>
            <a:cxnLst/>
            <a:rect r="r" b="b" t="t" l="l"/>
            <a:pathLst>
              <a:path h="6206481" w="4498546">
                <a:moveTo>
                  <a:pt x="0" y="0"/>
                </a:moveTo>
                <a:lnTo>
                  <a:pt x="4498546" y="0"/>
                </a:lnTo>
                <a:lnTo>
                  <a:pt x="4498546" y="6206481"/>
                </a:lnTo>
                <a:lnTo>
                  <a:pt x="0" y="6206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9995" t="-40334" r="-13650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54451" y="458668"/>
            <a:ext cx="11092774" cy="570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221"/>
              </a:lnSpc>
              <a:spcBef>
                <a:spcPct val="0"/>
              </a:spcBef>
            </a:pPr>
            <a:r>
              <a:rPr lang="en-US" b="true" sz="430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Job Distribution by Location &amp; Industry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62185" y="4343994"/>
            <a:ext cx="975853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4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4280" y="7938515"/>
            <a:ext cx="1266769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Calif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or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 ha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the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ghes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nu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o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 job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p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ing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152 job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foll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ed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by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Massa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103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 New Y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or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72. Biotechn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olog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adi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ustry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in 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alyzed d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taset</a:t>
            </a: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803371" y="3093831"/>
            <a:ext cx="8497470" cy="7552127"/>
          </a:xfrm>
          <a:custGeom>
            <a:avLst/>
            <a:gdLst/>
            <a:ahLst/>
            <a:cxnLst/>
            <a:rect r="r" b="b" t="t" l="l"/>
            <a:pathLst>
              <a:path h="7552127" w="8497470">
                <a:moveTo>
                  <a:pt x="8497470" y="0"/>
                </a:moveTo>
                <a:lnTo>
                  <a:pt x="0" y="0"/>
                </a:lnTo>
                <a:lnTo>
                  <a:pt x="0" y="7552126"/>
                </a:lnTo>
                <a:lnTo>
                  <a:pt x="8497470" y="7552126"/>
                </a:lnTo>
                <a:lnTo>
                  <a:pt x="849747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0"/>
            <a:ext cx="7315200" cy="3904488"/>
          </a:xfrm>
          <a:custGeom>
            <a:avLst/>
            <a:gdLst/>
            <a:ahLst/>
            <a:cxnLst/>
            <a:rect r="r" b="b" t="t" l="l"/>
            <a:pathLst>
              <a:path h="3904488" w="7315200">
                <a:moveTo>
                  <a:pt x="0" y="3904488"/>
                </a:moveTo>
                <a:lnTo>
                  <a:pt x="7315200" y="3904488"/>
                </a:lnTo>
                <a:lnTo>
                  <a:pt x="7315200" y="0"/>
                </a:lnTo>
                <a:lnTo>
                  <a:pt x="0" y="0"/>
                </a:lnTo>
                <a:lnTo>
                  <a:pt x="0" y="390448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0645" y="2489853"/>
            <a:ext cx="7764550" cy="5543648"/>
          </a:xfrm>
          <a:custGeom>
            <a:avLst/>
            <a:gdLst/>
            <a:ahLst/>
            <a:cxnLst/>
            <a:rect r="r" b="b" t="t" l="l"/>
            <a:pathLst>
              <a:path h="5543648" w="7764550">
                <a:moveTo>
                  <a:pt x="0" y="0"/>
                </a:moveTo>
                <a:lnTo>
                  <a:pt x="7764550" y="0"/>
                </a:lnTo>
                <a:lnTo>
                  <a:pt x="7764550" y="5543648"/>
                </a:lnTo>
                <a:lnTo>
                  <a:pt x="0" y="554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921" r="-15825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23991" y="2442723"/>
            <a:ext cx="5733228" cy="5401554"/>
          </a:xfrm>
          <a:custGeom>
            <a:avLst/>
            <a:gdLst/>
            <a:ahLst/>
            <a:cxnLst/>
            <a:rect r="r" b="b" t="t" l="l"/>
            <a:pathLst>
              <a:path h="5401554" w="5733228">
                <a:moveTo>
                  <a:pt x="0" y="0"/>
                </a:moveTo>
                <a:lnTo>
                  <a:pt x="5733229" y="0"/>
                </a:lnTo>
                <a:lnTo>
                  <a:pt x="5733229" y="5401554"/>
                </a:lnTo>
                <a:lnTo>
                  <a:pt x="0" y="54015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6032" t="-17096" r="-137139" b="-10880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04076" y="537254"/>
            <a:ext cx="5679849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Salary Analysi</a:t>
            </a:r>
            <a:r>
              <a:rPr lang="en-US" b="true" sz="5747" strike="noStrike" u="none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61554" y="8266444"/>
            <a:ext cx="525592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Lorem ipsum dolor sit amet, consectetur adipiscing elit, sed do eiusmod tempor incididunt ut labore et dolore magna aliqua. Ut enim ad minim veniam.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6369" y="6764396"/>
            <a:ext cx="8917985" cy="3522604"/>
          </a:xfrm>
          <a:custGeom>
            <a:avLst/>
            <a:gdLst/>
            <a:ahLst/>
            <a:cxnLst/>
            <a:rect r="r" b="b" t="t" l="l"/>
            <a:pathLst>
              <a:path h="3522604" w="8917985">
                <a:moveTo>
                  <a:pt x="0" y="3522604"/>
                </a:moveTo>
                <a:lnTo>
                  <a:pt x="8917984" y="3522604"/>
                </a:lnTo>
                <a:lnTo>
                  <a:pt x="8917984" y="0"/>
                </a:lnTo>
                <a:lnTo>
                  <a:pt x="0" y="0"/>
                </a:lnTo>
                <a:lnTo>
                  <a:pt x="0" y="35226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75246" y="2988333"/>
            <a:ext cx="8497470" cy="7552127"/>
          </a:xfrm>
          <a:custGeom>
            <a:avLst/>
            <a:gdLst/>
            <a:ahLst/>
            <a:cxnLst/>
            <a:rect r="r" b="b" t="t" l="l"/>
            <a:pathLst>
              <a:path h="7552127" w="8497470">
                <a:moveTo>
                  <a:pt x="8497470" y="0"/>
                </a:moveTo>
                <a:lnTo>
                  <a:pt x="0" y="0"/>
                </a:lnTo>
                <a:lnTo>
                  <a:pt x="0" y="7552126"/>
                </a:lnTo>
                <a:lnTo>
                  <a:pt x="8497470" y="7552126"/>
                </a:lnTo>
                <a:lnTo>
                  <a:pt x="849747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660652" y="0"/>
            <a:ext cx="6627348" cy="3537347"/>
          </a:xfrm>
          <a:custGeom>
            <a:avLst/>
            <a:gdLst/>
            <a:ahLst/>
            <a:cxnLst/>
            <a:rect r="r" b="b" t="t" l="l"/>
            <a:pathLst>
              <a:path h="3537347" w="6627348">
                <a:moveTo>
                  <a:pt x="6627348" y="3537347"/>
                </a:moveTo>
                <a:lnTo>
                  <a:pt x="0" y="3537347"/>
                </a:lnTo>
                <a:lnTo>
                  <a:pt x="0" y="0"/>
                </a:lnTo>
                <a:lnTo>
                  <a:pt x="6627348" y="0"/>
                </a:lnTo>
                <a:lnTo>
                  <a:pt x="6627348" y="353734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0233" y="1693694"/>
            <a:ext cx="4764781" cy="7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32"/>
              </a:lnSpc>
              <a:spcBef>
                <a:spcPct val="0"/>
              </a:spcBef>
            </a:pPr>
            <a:r>
              <a:rPr lang="en-US" b="true" sz="5747" strike="noStrike" u="none">
                <a:solidFill>
                  <a:srgbClr val="1C4398"/>
                </a:solidFill>
                <a:latin typeface="Touvlo Bold"/>
                <a:ea typeface="Touvlo Bold"/>
                <a:cs typeface="Touvlo Bold"/>
                <a:sym typeface="Touvlo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57224" y="2953475"/>
            <a:ext cx="12840175" cy="254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31"/>
              </a:lnSpc>
              <a:spcBef>
                <a:spcPct val="0"/>
              </a:spcBef>
            </a:pPr>
            <a:r>
              <a:rPr lang="en-US" sz="287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analys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 d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em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nst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ates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portu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niti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salary lev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el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side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bly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b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locat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n, 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dustr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job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le 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seni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ity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The c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ion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of SQL an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al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ysi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Powe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BI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suali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z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 pro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id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ru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red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 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fy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ese pa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 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nd der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mea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gful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gh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ts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om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jo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 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rk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879" strike="noStrike" u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573" y="3522604"/>
            <a:ext cx="7841377" cy="7125851"/>
          </a:xfrm>
          <a:custGeom>
            <a:avLst/>
            <a:gdLst/>
            <a:ahLst/>
            <a:cxnLst/>
            <a:rect r="r" b="b" t="t" l="l"/>
            <a:pathLst>
              <a:path h="7125851" w="7841377">
                <a:moveTo>
                  <a:pt x="0" y="0"/>
                </a:moveTo>
                <a:lnTo>
                  <a:pt x="7841377" y="0"/>
                </a:lnTo>
                <a:lnTo>
                  <a:pt x="7841377" y="7125851"/>
                </a:lnTo>
                <a:lnTo>
                  <a:pt x="0" y="712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370015" y="0"/>
            <a:ext cx="8917985" cy="3522604"/>
          </a:xfrm>
          <a:custGeom>
            <a:avLst/>
            <a:gdLst/>
            <a:ahLst/>
            <a:cxnLst/>
            <a:rect r="r" b="b" t="t" l="l"/>
            <a:pathLst>
              <a:path h="3522604" w="8917985">
                <a:moveTo>
                  <a:pt x="8917985" y="0"/>
                </a:moveTo>
                <a:lnTo>
                  <a:pt x="0" y="0"/>
                </a:lnTo>
                <a:lnTo>
                  <a:pt x="0" y="3522604"/>
                </a:lnTo>
                <a:lnTo>
                  <a:pt x="8917985" y="3522604"/>
                </a:lnTo>
                <a:lnTo>
                  <a:pt x="891798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00364" y="6533655"/>
            <a:ext cx="4987636" cy="4114800"/>
          </a:xfrm>
          <a:custGeom>
            <a:avLst/>
            <a:gdLst/>
            <a:ahLst/>
            <a:cxnLst/>
            <a:rect r="r" b="b" t="t" l="l"/>
            <a:pathLst>
              <a:path h="4114800" w="4987636">
                <a:moveTo>
                  <a:pt x="0" y="0"/>
                </a:moveTo>
                <a:lnTo>
                  <a:pt x="4987636" y="0"/>
                </a:lnTo>
                <a:lnTo>
                  <a:pt x="49876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21888" y="2879180"/>
            <a:ext cx="7851023" cy="41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5123"/>
              </a:lnSpc>
              <a:spcBef>
                <a:spcPct val="0"/>
              </a:spcBef>
            </a:pPr>
            <a:r>
              <a:rPr lang="en-US" b="true" sz="14827" strike="noStrike" u="none">
                <a:solidFill>
                  <a:srgbClr val="1C4398"/>
                </a:solidFill>
                <a:latin typeface="Luciole Bold"/>
                <a:ea typeface="Luciole Bold"/>
                <a:cs typeface="Luciole Bold"/>
                <a:sym typeface="Luciol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DAHR-Agf0IE</dc:identifier>
  <dcterms:modified xsi:type="dcterms:W3CDTF">2011-08-01T06:04:30Z</dcterms:modified>
  <cp:revision>1</cp:revision>
  <dc:title>JMA Presentation</dc:title>
</cp:coreProperties>
</file>